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7" r:id="rId4"/>
    <p:sldId id="278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6" r:id="rId18"/>
    <p:sldId id="27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F1004-B983-4EC3-950F-39CAA755952B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3468D-C7C7-40A1-A018-EB68D595DD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267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FAA15-60AB-C857-79AE-93E23C411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0ABA13-24B8-CDA8-0B69-027A34463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8CA90-27CC-4E3A-35D1-224C79C0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53A8-C7AC-4773-A4CF-A83D21E3E49A}" type="datetime1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2EF806-BEDC-3C2C-6549-3AA73735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815BE2-9A1A-F0AF-1A91-59C3675B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4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78A759-354F-D622-6E1A-AD1AE437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75A783-4187-C97B-0FC9-522DB2CE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E8AE49-38EA-F987-EF6B-8CC721A0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E5FB-5C4C-47D8-9EA1-4B3E95E0B9A8}" type="datetime1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C04EE3-B996-207B-CC20-7BC8B7CC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996685-E29A-5362-0C0A-2249C4A4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57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27D60-AF24-3854-698C-93897C34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881785-25D0-416E-B2C2-266BDFD9F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6C5015-9274-7716-1780-0B430374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BA13-6A2C-4E20-BFDD-A86B78BA0819}" type="datetime1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BCBB55-4DCC-8133-3875-5C969BDC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B79EE1-2052-8C0E-3EBA-85D3E151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0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D2326-2016-9D3B-0069-1938E35D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11C7B7-8A83-547B-B2C5-D911C2A9C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9470AC-950C-50CC-D2E0-341A5F30B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3D275D-CB93-2379-D754-417F186D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F2F-42F8-4D32-8E03-9C1822F8A675}" type="datetime1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68952B-E469-4EA5-086E-F16406DA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C001C2-6943-F587-8559-806028B5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96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18441-4910-2414-902C-760C14F6E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4ACE35-F128-87C1-56D6-CB6D8D4C5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39157D-0195-BC93-34BA-7E00B2998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791268-4022-3610-75B4-37671BEA2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93E5B1-EA8D-ABE6-18B0-2A7B9E2B0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B0A195-3DC7-2321-946B-A41ABC2E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18D1-7D9F-4E40-A4AA-E78814519518}" type="datetime1">
              <a:rPr lang="ru-RU" smtClean="0"/>
              <a:t>19.11.2025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0F8C008-4206-A21B-5E1B-E5F558CD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965AD7-FAA2-0E89-7EA6-705A8A10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55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69850F-085A-92E6-5BAD-61BF10B9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BEB1D91-AA15-7425-5BC8-069CD415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1A53-F58E-4F97-B483-8926EC8650B6}" type="datetime1">
              <a:rPr lang="ru-RU" smtClean="0"/>
              <a:t>19.11.2025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07C7D9-1AE7-4728-C457-7F0B25239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1E8701-AA26-1523-C53F-5E35514E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62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D25704-BEEF-E48A-9E75-7FFED312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8E7C-E373-4668-B849-6EBBF1348FF2}" type="datetime1">
              <a:rPr lang="ru-RU" smtClean="0"/>
              <a:t>19.11.2025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DC04E5-580B-52BE-7B6C-815BF762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EAEE27-2A6D-2A94-32CF-C1BE0ED8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45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6ACA75-C414-FC3F-FB89-65C6E910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5A391-1150-DC55-EA82-B92D9242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37CD4C-1A39-49AD-C12E-8D670BE58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8D5E70-5EF9-8007-257C-8EBDD9E8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BFAAB-9B7F-4D07-89AF-341E5B2BBF63}" type="datetime1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8B0D62-D566-E230-5105-BC5701CB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E39CCA-48AF-A9D8-1249-EB179B4E5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55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DBAC3-151D-94FF-D442-772A8BDF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7EF653-4DA8-FD56-FC5C-4F6D06928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ADF607-CA14-80EC-6E1B-3F04D30EA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5F1723-013D-837C-FD25-F6ABC2C8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B917-606C-4A7D-AC4C-75492A26B323}" type="datetime1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E7F3C4-4D0F-D47C-7250-6BFC4826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B6659A-B0D4-3B2C-F0AD-708ED6F5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86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175D6-EA37-DCB6-B02B-F5DA2797B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10C2C1-CA78-E8DF-F41D-8247750D0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F3EE24-AECD-FAB6-A971-9DF65B797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730C6-3881-4186-BB99-7821958F3720}" type="datetime1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641D0A-4CAD-8AF5-ABF1-C9DC73AFC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23F8D5-8340-ED0B-3AF6-322D7798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236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737E1A-AC00-0A69-8B25-B90F749C8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74B10D-C681-A482-B3E2-D17A93D64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0FEA4B-F4A4-26F1-354E-3E23F3F1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BABE-4280-493B-A38D-D134AB78CC75}" type="datetime1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22BA4C-05A0-C652-0AFD-CA85F556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81BE70-77EF-9424-4548-621DC57B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72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37C3D-5677-E0F9-7CE5-6229C2F4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A26116-14B7-0A9E-F95A-12263A82A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30D44-F932-841B-3D83-8D82AFB1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547F1-5E5B-43CA-834B-008CD3153BD8}" type="datetime1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FE6F7F-5381-69DB-D48F-2EB1D54E5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4B2C7E-B5E1-57B2-9403-8D223E980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453B2-3F70-4FCF-BDD7-955D5CD98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1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onitoring.api.cloud.yandex.net/monitoring/v2/data/writ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23004-C0BD-12E4-8D88-A649B6BCE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YS Text"/>
              </a:rPr>
              <a:t>Yandex Cloud</a:t>
            </a:r>
            <a:r>
              <a:rPr lang="en-US" dirty="0">
                <a:latin typeface="YS Text"/>
              </a:rPr>
              <a:t>:</a:t>
            </a:r>
            <a:r>
              <a:rPr lang="en-US" b="0" i="0" dirty="0">
                <a:effectLst/>
                <a:latin typeface="YS Text"/>
              </a:rPr>
              <a:t> Monitoring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6ECCCC-6266-D70B-B043-A088C99CB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11087" y="6185140"/>
            <a:ext cx="3280912" cy="672859"/>
          </a:xfrm>
        </p:spPr>
        <p:txBody>
          <a:bodyPr>
            <a:normAutofit/>
          </a:bodyPr>
          <a:lstStyle/>
          <a:p>
            <a:r>
              <a:rPr lang="ru-RU" sz="1600" dirty="0"/>
              <a:t>Пеленев Денис ИСТИ-24-1м </a:t>
            </a:r>
          </a:p>
        </p:txBody>
      </p:sp>
    </p:spTree>
    <p:extLst>
      <p:ext uri="{BB962C8B-B14F-4D97-AF65-F5344CB8AC3E}">
        <p14:creationId xmlns:p14="http://schemas.microsoft.com/office/powerpoint/2010/main" val="197964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31BC8-6FBE-DA82-F8C4-9C5CE69C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Monitoring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E03AC-3C15-8226-A2FD-AE9D6851E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Yandex Monitoring </a:t>
            </a:r>
            <a:r>
              <a:rPr lang="en-US" dirty="0"/>
              <a:t>- </a:t>
            </a:r>
            <a:r>
              <a:rPr lang="ru-RU" dirty="0"/>
              <a:t>это сервис мониторинга, предоставляемый Yandex </a:t>
            </a:r>
            <a:r>
              <a:rPr lang="ru-RU" dirty="0" err="1"/>
              <a:t>Cloud</a:t>
            </a:r>
            <a:r>
              <a:rPr lang="ru-RU" dirty="0"/>
              <a:t>, который позволяет собирать, агрегировать, визуализировать и анализировать метрики производительности облачных ресурсов, а также пользовательские метрики приложений.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52B581-6F20-55BA-067D-42BE7408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705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958FB-6FD4-FC17-C421-85D1A163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22E301-6F1B-0F48-96D0-CB312FF5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Полная интеграция с экосистемой Yandex </a:t>
            </a:r>
            <a:r>
              <a:rPr lang="ru-RU" b="1" dirty="0" err="1"/>
              <a:t>Cloud</a:t>
            </a:r>
            <a:r>
              <a:rPr lang="ru-RU" b="1" dirty="0"/>
              <a:t> – </a:t>
            </a:r>
            <a:r>
              <a:rPr lang="ru-RU" dirty="0"/>
              <a:t>если в проекте используются другие облачные решения </a:t>
            </a:r>
            <a:r>
              <a:rPr lang="en-US" dirty="0"/>
              <a:t>Yandex</a:t>
            </a:r>
            <a:r>
              <a:rPr lang="ru-RU" dirty="0"/>
              <a:t>, то метрики из них собираются автоматически без настройки</a:t>
            </a:r>
          </a:p>
          <a:p>
            <a:r>
              <a:rPr lang="ru-RU" b="1" dirty="0"/>
              <a:t>Низкий порог входа</a:t>
            </a:r>
          </a:p>
          <a:p>
            <a:r>
              <a:rPr lang="ru-RU" b="1" dirty="0"/>
              <a:t>Пользовательские метрики – </a:t>
            </a:r>
            <a:r>
              <a:rPr lang="ru-RU" dirty="0"/>
              <a:t>в систему можно передать пользовательские метрики, что позволяет мониторить не только </a:t>
            </a:r>
            <a:r>
              <a:rPr lang="ru-RU" dirty="0" err="1"/>
              <a:t>инфраструктуту</a:t>
            </a:r>
            <a:r>
              <a:rPr lang="ru-RU" dirty="0"/>
              <a:t>, но и бизнес логику.</a:t>
            </a:r>
          </a:p>
          <a:p>
            <a:r>
              <a:rPr lang="ru-RU" b="1" dirty="0"/>
              <a:t>Гибкая система уведомлений</a:t>
            </a:r>
          </a:p>
          <a:p>
            <a:r>
              <a:rPr lang="ru-RU" b="1" dirty="0"/>
              <a:t>Интеграция с </a:t>
            </a:r>
            <a:r>
              <a:rPr lang="en-US" b="1" dirty="0"/>
              <a:t>Prometheus: </a:t>
            </a:r>
            <a:r>
              <a:rPr lang="en-US" b="0" i="0" dirty="0">
                <a:effectLst/>
                <a:latin typeface="YS Text"/>
              </a:rPr>
              <a:t>Yandex Managed Service for Prometheus</a:t>
            </a:r>
            <a:endParaRPr lang="ru-RU" b="1" dirty="0"/>
          </a:p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0BBA75-C0B2-D7B3-7607-D7BFBE8F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25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BDE9C-5C11-8667-29D1-978EDF92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944D50-6491-884D-0ABC-770002522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Ограниченный функционал аналитики</a:t>
            </a:r>
          </a:p>
          <a:p>
            <a:r>
              <a:rPr lang="ru-RU" dirty="0"/>
              <a:t>Маленький объем документации, в основном только </a:t>
            </a:r>
            <a:r>
              <a:rPr lang="ru-RU" dirty="0" err="1"/>
              <a:t>оффициальная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EA9C75-5D55-CC17-557E-AC3E0FBF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83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017D7-5026-6FBA-362D-EDFF3CFA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8C46B7-C7F6-C193-6749-A4072CEFA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Автоматический сбор метрик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Создание графиков и </a:t>
            </a:r>
            <a:r>
              <a:rPr lang="ru-RU" dirty="0" err="1"/>
              <a:t>дашбордов</a:t>
            </a:r>
            <a:r>
              <a:rPr lang="ru-RU" dirty="0"/>
              <a:t> на основе метрик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Выгрузка данных через специальные </a:t>
            </a:r>
            <a:r>
              <a:rPr lang="en-US" dirty="0"/>
              <a:t>API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Загрузка пользовательских метрик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Настройка системы уведомлений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BCF0D-1FBF-3420-01CC-1546CECE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41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7DD23-501C-14AC-F9C8-EEB98C58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Отправка метрик по </a:t>
            </a:r>
            <a:r>
              <a:rPr lang="en-US" dirty="0"/>
              <a:t>API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89E4C4-AB1F-961C-7DCD-27BCECEF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Отправка метрик реализуется через </a:t>
            </a:r>
            <a:r>
              <a:rPr lang="en-US" dirty="0"/>
              <a:t>HTTP-</a:t>
            </a:r>
            <a:r>
              <a:rPr lang="ru-RU" dirty="0"/>
              <a:t>запрос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nn-NO" b="1" dirty="0"/>
              <a:t>POST </a:t>
            </a:r>
            <a:r>
              <a:rPr lang="nn-NO" b="1" dirty="0">
                <a:hlinkClick r:id="rId2"/>
              </a:rPr>
              <a:t>https://monitoring.api.cloud.yandex.net/monitoring/v2/data/write</a:t>
            </a:r>
            <a:endParaRPr lang="nn-NO" b="1" dirty="0"/>
          </a:p>
          <a:p>
            <a:pPr marL="0" indent="0">
              <a:buNone/>
            </a:pPr>
            <a:endParaRPr lang="nn-NO" b="1" dirty="0"/>
          </a:p>
          <a:p>
            <a:pPr marL="0" indent="0">
              <a:buNone/>
            </a:pPr>
            <a:r>
              <a:rPr lang="en-US" b="1" i="0" dirty="0">
                <a:effectLst/>
                <a:latin typeface="YS Text"/>
              </a:rPr>
              <a:t>Query-</a:t>
            </a:r>
            <a:r>
              <a:rPr lang="ru-RU" b="1" i="0" dirty="0">
                <a:effectLst/>
                <a:latin typeface="YS Text"/>
              </a:rPr>
              <a:t>параметры</a:t>
            </a:r>
            <a:r>
              <a:rPr lang="en-US" b="1" i="0" dirty="0">
                <a:effectLst/>
                <a:latin typeface="YS Text"/>
              </a:rPr>
              <a:t>:</a:t>
            </a:r>
            <a:endParaRPr lang="ru-RU" b="1" i="0" dirty="0">
              <a:effectLst/>
              <a:latin typeface="YS Text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0" i="0" dirty="0" err="1">
                <a:effectLst/>
                <a:latin typeface="YS Text"/>
              </a:rPr>
              <a:t>folderId</a:t>
            </a:r>
            <a:r>
              <a:rPr lang="ru-RU" b="1" dirty="0">
                <a:latin typeface="YS Text"/>
              </a:rPr>
              <a:t> – </a:t>
            </a:r>
            <a:r>
              <a:rPr lang="ru-RU" dirty="0">
                <a:latin typeface="YS Text"/>
              </a:rPr>
              <a:t>идентификатор каталога к которому принадлежит метрика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YS Text"/>
              </a:rPr>
              <a:t>s</a:t>
            </a:r>
            <a:r>
              <a:rPr lang="en-US" b="0" i="0" dirty="0">
                <a:effectLst/>
                <a:latin typeface="YS Text"/>
              </a:rPr>
              <a:t>ervice</a:t>
            </a:r>
            <a:r>
              <a:rPr lang="ru-RU" b="0" i="0" dirty="0">
                <a:effectLst/>
                <a:latin typeface="YS Text"/>
              </a:rPr>
              <a:t> – идентификатор серви</a:t>
            </a:r>
            <a:r>
              <a:rPr lang="ru-RU" dirty="0">
                <a:latin typeface="YS Text"/>
              </a:rPr>
              <a:t>са которому принадлежит метрика. (Для пользовательских метрик используется </a:t>
            </a:r>
            <a:r>
              <a:rPr lang="en-US" b="0" i="0" dirty="0">
                <a:solidFill>
                  <a:srgbClr val="657B8F"/>
                </a:solidFill>
                <a:effectLst/>
                <a:latin typeface="Menlo"/>
              </a:rPr>
              <a:t>service=custom</a:t>
            </a:r>
            <a:r>
              <a:rPr lang="ru-RU" dirty="0">
                <a:latin typeface="YS Text"/>
              </a:rPr>
              <a:t>)</a:t>
            </a:r>
            <a:endParaRPr lang="ru-RU" b="1" i="0" dirty="0">
              <a:effectLst/>
              <a:latin typeface="YS Text"/>
            </a:endParaRPr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69AFAD-F996-414E-90EF-A0DD4E07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9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EACF0-6370-B31F-651C-449D780A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в теле запроса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D9BEF-C640-C9FA-9976-C98D69B0A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1619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ts</a:t>
            </a:r>
            <a:r>
              <a:rPr lang="en-US" dirty="0"/>
              <a:t> – </a:t>
            </a:r>
            <a:r>
              <a:rPr lang="ru-RU" dirty="0"/>
              <a:t>Временная метка в формате RFC3339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labels </a:t>
            </a:r>
            <a:r>
              <a:rPr lang="en-US" dirty="0"/>
              <a:t>– </a:t>
            </a:r>
            <a:r>
              <a:rPr lang="ru-RU" dirty="0"/>
              <a:t>Список меток общих для всех передаваемых метрик в формате </a:t>
            </a:r>
            <a:r>
              <a:rPr lang="ru-RU" dirty="0" err="1"/>
              <a:t>ключ:значение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metrics </a:t>
            </a:r>
            <a:r>
              <a:rPr lang="en-US" dirty="0"/>
              <a:t>– </a:t>
            </a:r>
            <a:r>
              <a:rPr lang="ru-RU" dirty="0"/>
              <a:t>список метрик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name</a:t>
            </a:r>
            <a:r>
              <a:rPr lang="en-US" dirty="0"/>
              <a:t> –</a:t>
            </a:r>
            <a:r>
              <a:rPr lang="ru-RU" dirty="0"/>
              <a:t> имя метрики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labels</a:t>
            </a:r>
            <a:r>
              <a:rPr lang="en-US" dirty="0"/>
              <a:t> – </a:t>
            </a:r>
            <a:r>
              <a:rPr lang="ru-RU" dirty="0"/>
              <a:t>Список меток метрики в формате </a:t>
            </a:r>
            <a:r>
              <a:rPr lang="ru-RU" dirty="0" err="1"/>
              <a:t>ключ:значение</a:t>
            </a:r>
            <a:endParaRPr lang="ru-RU" dirty="0"/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type</a:t>
            </a:r>
            <a:r>
              <a:rPr lang="en-US" dirty="0"/>
              <a:t> –</a:t>
            </a:r>
            <a:r>
              <a:rPr lang="ru-RU" dirty="0"/>
              <a:t> тип метрики</a:t>
            </a:r>
            <a:r>
              <a:rPr lang="en-US" dirty="0"/>
              <a:t>:</a:t>
            </a:r>
            <a:endParaRPr lang="ru-RU" dirty="0"/>
          </a:p>
          <a:p>
            <a:pPr marL="1428750" lvl="2" indent="-514350">
              <a:buFont typeface="+mj-lt"/>
              <a:buAutoNum type="arabicPeriod"/>
            </a:pPr>
            <a:r>
              <a:rPr lang="en-US" b="0" i="0" dirty="0">
                <a:effectLst/>
                <a:latin typeface="YS Text"/>
              </a:rPr>
              <a:t>DGAUGE</a:t>
            </a:r>
            <a:r>
              <a:rPr lang="ru-RU" b="0" i="0" dirty="0">
                <a:effectLst/>
                <a:latin typeface="YS Text"/>
              </a:rPr>
              <a:t> – дробное число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b="0" i="0" dirty="0">
                <a:effectLst/>
                <a:latin typeface="YS Text"/>
              </a:rPr>
              <a:t>IGAUGE</a:t>
            </a:r>
            <a:r>
              <a:rPr lang="ru-RU" b="0" i="0" dirty="0">
                <a:effectLst/>
                <a:latin typeface="YS Text"/>
              </a:rPr>
              <a:t> – целое число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b="0" i="0" dirty="0">
                <a:effectLst/>
                <a:latin typeface="YS Text"/>
              </a:rPr>
              <a:t>COUNTER</a:t>
            </a:r>
            <a:r>
              <a:rPr lang="ru-RU" b="0" i="0" dirty="0">
                <a:effectLst/>
                <a:latin typeface="YS Text"/>
              </a:rPr>
              <a:t> – счетчик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b="1" dirty="0" err="1"/>
              <a:t>ts</a:t>
            </a:r>
            <a:r>
              <a:rPr lang="en-US" dirty="0"/>
              <a:t> -</a:t>
            </a:r>
            <a:r>
              <a:rPr lang="ru-RU" dirty="0"/>
              <a:t> временная метка в формате RFC3339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value</a:t>
            </a:r>
            <a:r>
              <a:rPr lang="en-US" dirty="0"/>
              <a:t> –</a:t>
            </a:r>
            <a:r>
              <a:rPr lang="ru-RU" dirty="0"/>
              <a:t> значение метрики в указанной точке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timeseries</a:t>
            </a:r>
            <a:r>
              <a:rPr lang="en-US" dirty="0"/>
              <a:t> –</a:t>
            </a:r>
            <a:r>
              <a:rPr lang="ru-RU" dirty="0"/>
              <a:t> список из нескольких точек</a:t>
            </a:r>
            <a:endParaRPr lang="en-US" dirty="0"/>
          </a:p>
          <a:p>
            <a:pPr marL="1428750" lvl="2" indent="-514350">
              <a:buFont typeface="+mj-lt"/>
              <a:buAutoNum type="arabicPeriod"/>
            </a:pPr>
            <a:r>
              <a:rPr lang="en-US" dirty="0" err="1"/>
              <a:t>ts</a:t>
            </a:r>
            <a:r>
              <a:rPr lang="en-US" dirty="0"/>
              <a:t> – </a:t>
            </a:r>
            <a:r>
              <a:rPr lang="ru-RU" dirty="0"/>
              <a:t>временная точка в формате RFC3339</a:t>
            </a:r>
            <a:endParaRPr lang="en-US" dirty="0"/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value – </a:t>
            </a:r>
            <a:r>
              <a:rPr lang="ru-RU" dirty="0"/>
              <a:t>значение метрики в указанной точке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49E383-26B6-AFC4-D40C-41FF2779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61" y="1825625"/>
            <a:ext cx="2908540" cy="434622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4F2E90-11AF-14C9-20A8-AE82381A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8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1F034-4607-BE7F-11DD-BF4B5EA1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записи метрик через </a:t>
            </a:r>
            <a:r>
              <a:rPr lang="en-US" dirty="0"/>
              <a:t>API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EA293-EF42-1B34-51EF-36D60554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389408" cy="44862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Выполняем несколько раз запрос с указанием разных </a:t>
            </a:r>
            <a:r>
              <a:rPr lang="en-US" dirty="0"/>
              <a:t>value</a:t>
            </a:r>
            <a:r>
              <a:rPr lang="ru-RU" dirty="0"/>
              <a:t> для </a:t>
            </a:r>
            <a:r>
              <a:rPr lang="en-US" dirty="0"/>
              <a:t>building office </a:t>
            </a:r>
            <a:r>
              <a:rPr lang="ru-RU" dirty="0"/>
              <a:t>и разных </a:t>
            </a:r>
            <a:r>
              <a:rPr lang="en-US" dirty="0"/>
              <a:t>room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BAAE45-CA08-D54B-8690-EC07797B6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66053"/>
            <a:ext cx="5201962" cy="339901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3210E3-AB46-02A6-A235-74CD0955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06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49675-1B48-34C4-2879-DAF0FF55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просмотра метрик через </a:t>
            </a:r>
            <a:r>
              <a:rPr lang="en-US" dirty="0"/>
              <a:t>API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C33BC6-0EEA-CBE3-B356-572779CFE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28026" cy="43513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Переходим в </a:t>
            </a:r>
            <a:r>
              <a:rPr lang="en-US" dirty="0"/>
              <a:t>Yandex Monitoring;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Выбираем пункт </a:t>
            </a:r>
            <a:r>
              <a:rPr lang="en-US" dirty="0"/>
              <a:t>“</a:t>
            </a:r>
            <a:r>
              <a:rPr lang="ru-RU" dirty="0"/>
              <a:t>Метрики</a:t>
            </a:r>
            <a:r>
              <a:rPr lang="en-US" dirty="0"/>
              <a:t>”;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блоке </a:t>
            </a:r>
            <a:r>
              <a:rPr lang="en-US" dirty="0"/>
              <a:t>“</a:t>
            </a:r>
            <a:r>
              <a:rPr lang="ru-RU" dirty="0"/>
              <a:t>Запрос</a:t>
            </a:r>
            <a:r>
              <a:rPr lang="en-US" dirty="0"/>
              <a:t>”</a:t>
            </a:r>
            <a:r>
              <a:rPr lang="ru-RU" dirty="0"/>
              <a:t> прописываем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test &gt; monitoring service = custom name = temperature 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Выполняем запрос</a:t>
            </a:r>
          </a:p>
          <a:p>
            <a:pPr marL="0" indent="0">
              <a:buNone/>
            </a:pPr>
            <a:r>
              <a:rPr lang="ru-RU" dirty="0"/>
              <a:t>На экране появился график отображающий изменение метрики</a:t>
            </a:r>
            <a:r>
              <a:rPr lang="en-US" dirty="0"/>
              <a:t> </a:t>
            </a:r>
            <a:r>
              <a:rPr lang="ru-RU" dirty="0"/>
              <a:t>для разных </a:t>
            </a:r>
            <a:r>
              <a:rPr lang="en-US" dirty="0"/>
              <a:t>room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5091FD-2312-A625-BFB9-9662923E0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222" y="2556370"/>
            <a:ext cx="8200128" cy="288984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F8AE9A-031F-E402-7CC6-1F6086B5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34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7682C-2329-A22D-734E-B8FE22C0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метрик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679698-82B3-4747-1915-8CDFAA656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794"/>
            <a:ext cx="10515600" cy="193128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разделе </a:t>
            </a:r>
            <a:r>
              <a:rPr lang="en-US" dirty="0"/>
              <a:t>“</a:t>
            </a:r>
            <a:r>
              <a:rPr lang="ru-RU" dirty="0"/>
              <a:t>Метрики</a:t>
            </a:r>
            <a:r>
              <a:rPr lang="en-US" dirty="0"/>
              <a:t>”</a:t>
            </a:r>
            <a:r>
              <a:rPr lang="ru-RU" dirty="0"/>
              <a:t> доступны различного рода функции, при использовании которых будут меняться данные на графике.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Примеры некоторых доступных функций</a:t>
            </a:r>
            <a:r>
              <a:rPr lang="en-US" dirty="0"/>
              <a:t>:</a:t>
            </a:r>
            <a:endParaRPr lang="ru-RU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D5AEE81-F771-A7F2-AC01-85257705BF88}"/>
              </a:ext>
            </a:extLst>
          </p:cNvPr>
          <p:cNvSpPr/>
          <p:nvPr/>
        </p:nvSpPr>
        <p:spPr>
          <a:xfrm>
            <a:off x="717430" y="5946686"/>
            <a:ext cx="3286665" cy="48307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ceil – </a:t>
            </a:r>
            <a:r>
              <a:rPr lang="ru-RU" dirty="0"/>
              <a:t>округление вверх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6B82DD-B571-FBD9-4AAA-78579D1CBE83}"/>
              </a:ext>
            </a:extLst>
          </p:cNvPr>
          <p:cNvSpPr/>
          <p:nvPr/>
        </p:nvSpPr>
        <p:spPr>
          <a:xfrm>
            <a:off x="4452667" y="5946686"/>
            <a:ext cx="3286665" cy="48307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/>
              <a:t>floor – </a:t>
            </a:r>
            <a:r>
              <a:rPr lang="ru-RU" dirty="0"/>
              <a:t>округление вниз</a:t>
            </a:r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F9C79D-02E9-C925-1C24-BF5FEE19994A}"/>
              </a:ext>
            </a:extLst>
          </p:cNvPr>
          <p:cNvSpPr/>
          <p:nvPr/>
        </p:nvSpPr>
        <p:spPr>
          <a:xfrm>
            <a:off x="8187905" y="5949772"/>
            <a:ext cx="3286665" cy="83059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dirty="0" err="1"/>
              <a:t>drop_above</a:t>
            </a:r>
            <a:r>
              <a:rPr lang="ru-RU" dirty="0"/>
              <a:t> – удаление точек со значением выше заданного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B5EA0E-99E9-C1E8-11E2-8C0F8924C6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12"/>
          <a:stretch/>
        </p:blipFill>
        <p:spPr>
          <a:xfrm>
            <a:off x="4452668" y="3684772"/>
            <a:ext cx="3286664" cy="22487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25DA257-B8AD-C762-B90F-B6DBFB732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30" y="3684773"/>
            <a:ext cx="3286665" cy="224877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1017B08-861A-8B41-67E2-270DA7D209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436"/>
          <a:stretch/>
        </p:blipFill>
        <p:spPr>
          <a:xfrm>
            <a:off x="8187904" y="3314811"/>
            <a:ext cx="3286665" cy="2631875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13E62-226D-62CE-555D-39AFE45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762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ACCD7-1C02-182A-CC8F-048A4C1E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Дашборды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A549C-A8D7-C49A-2EFE-EA88FB410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 err="1">
                <a:effectLst/>
                <a:latin typeface="YS Text"/>
              </a:rPr>
              <a:t>Дашборды</a:t>
            </a:r>
            <a:r>
              <a:rPr lang="ru-RU" b="0" i="0" dirty="0">
                <a:effectLst/>
                <a:latin typeface="YS Text"/>
              </a:rPr>
              <a:t> — это визуальные панели, которые позволяют быстро оценить состояние и производительность облачных ресурсов. </a:t>
            </a:r>
            <a:r>
              <a:rPr lang="ru-RU" b="0" i="0" dirty="0" err="1">
                <a:effectLst/>
                <a:latin typeface="YS Text"/>
              </a:rPr>
              <a:t>Дашборд</a:t>
            </a:r>
            <a:r>
              <a:rPr lang="ru-RU" b="0" i="0" dirty="0">
                <a:effectLst/>
                <a:latin typeface="YS Text"/>
              </a:rPr>
              <a:t> состоит из виджетов, которые позволяют отображать информацию разного типа: график, </a:t>
            </a:r>
            <a:r>
              <a:rPr lang="ru-RU" b="0" i="0" dirty="0" err="1">
                <a:effectLst/>
                <a:latin typeface="YS Text"/>
              </a:rPr>
              <a:t>алерт</a:t>
            </a:r>
            <a:r>
              <a:rPr lang="ru-RU" b="0" i="0" dirty="0">
                <a:effectLst/>
                <a:latin typeface="YS Text"/>
              </a:rPr>
              <a:t>. А также из виджетов, которые помогают структурировать информацию на </a:t>
            </a:r>
            <a:r>
              <a:rPr lang="ru-RU" b="0" i="0" dirty="0" err="1">
                <a:effectLst/>
                <a:latin typeface="YS Text"/>
              </a:rPr>
              <a:t>дашборде</a:t>
            </a:r>
            <a:r>
              <a:rPr lang="ru-RU" b="0" i="0" dirty="0">
                <a:effectLst/>
                <a:latin typeface="YS Text"/>
              </a:rPr>
              <a:t>: заголовок, текст и секция.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9B7F21-EBBC-22B6-8023-6E593179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136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C6290-42B7-42CB-6119-1C0D1C6F6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ru-RU" dirty="0" err="1"/>
              <a:t>дашборда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7BC53-A9D3-145F-1972-248887E7B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2690004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ru-RU" dirty="0"/>
              <a:t>Перейти в </a:t>
            </a:r>
            <a:r>
              <a:rPr lang="en-US" dirty="0"/>
              <a:t>Yandex Monitoring;</a:t>
            </a:r>
          </a:p>
          <a:p>
            <a:pPr marL="514350" indent="-514350">
              <a:buAutoNum type="arabicPeriod"/>
            </a:pPr>
            <a:r>
              <a:rPr lang="ru-RU" dirty="0"/>
              <a:t> Перейти в раздел </a:t>
            </a:r>
            <a:r>
              <a:rPr lang="en-US" dirty="0"/>
              <a:t>“</a:t>
            </a:r>
            <a:r>
              <a:rPr lang="ru-RU" dirty="0" err="1"/>
              <a:t>Дашборды</a:t>
            </a:r>
            <a:r>
              <a:rPr lang="en-US" dirty="0"/>
              <a:t>”;</a:t>
            </a:r>
          </a:p>
          <a:p>
            <a:pPr marL="514350" indent="-514350">
              <a:buAutoNum type="arabicPeriod"/>
            </a:pPr>
            <a:r>
              <a:rPr lang="ru-RU" dirty="0"/>
              <a:t>В правом верхнем углу нажать кнопку </a:t>
            </a:r>
            <a:r>
              <a:rPr lang="en-US" dirty="0"/>
              <a:t>“</a:t>
            </a:r>
            <a:r>
              <a:rPr lang="ru-RU" dirty="0"/>
              <a:t>Создать</a:t>
            </a:r>
            <a:r>
              <a:rPr lang="en-US" dirty="0"/>
              <a:t>”;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После, у нас откроется окно для работы с новым </a:t>
            </a:r>
            <a:r>
              <a:rPr lang="ru-RU" dirty="0" err="1"/>
              <a:t>Дашбордом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6C3316-83F7-73AF-C15D-96EEBF4CC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611" y="1690688"/>
            <a:ext cx="8264574" cy="4871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64C61B-3A1C-523F-B5FF-DABAD47F4E0E}"/>
              </a:ext>
            </a:extLst>
          </p:cNvPr>
          <p:cNvSpPr txBox="1"/>
          <p:nvPr/>
        </p:nvSpPr>
        <p:spPr>
          <a:xfrm>
            <a:off x="4019910" y="2432648"/>
            <a:ext cx="302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Наименование </a:t>
            </a:r>
            <a:r>
              <a:rPr lang="ru-RU" b="1" dirty="0" err="1">
                <a:solidFill>
                  <a:schemeClr val="bg1"/>
                </a:solidFill>
              </a:rPr>
              <a:t>дашборда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5FF6F-0917-8B67-55AF-C1D714F80182}"/>
              </a:ext>
            </a:extLst>
          </p:cNvPr>
          <p:cNvSpPr txBox="1"/>
          <p:nvPr/>
        </p:nvSpPr>
        <p:spPr>
          <a:xfrm>
            <a:off x="8491213" y="2277587"/>
            <a:ext cx="2454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Функции по добавлению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графика, текста, заголовка, </a:t>
            </a:r>
            <a:r>
              <a:rPr lang="ru-RU" b="1" dirty="0" err="1">
                <a:solidFill>
                  <a:schemeClr val="bg1"/>
                </a:solidFill>
              </a:rPr>
              <a:t>алерта</a:t>
            </a:r>
            <a:r>
              <a:rPr lang="ru-RU" b="1" dirty="0">
                <a:solidFill>
                  <a:schemeClr val="bg1"/>
                </a:solidFill>
              </a:rPr>
              <a:t> или секции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983E3-1A0F-6129-6391-756CF13A0A4B}"/>
              </a:ext>
            </a:extLst>
          </p:cNvPr>
          <p:cNvSpPr txBox="1"/>
          <p:nvPr/>
        </p:nvSpPr>
        <p:spPr>
          <a:xfrm>
            <a:off x="9523843" y="4001294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Сохранить </a:t>
            </a:r>
            <a:r>
              <a:rPr lang="ru-RU" b="1" dirty="0" err="1">
                <a:solidFill>
                  <a:schemeClr val="bg1"/>
                </a:solidFill>
              </a:rPr>
              <a:t>дашборд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5DADA63-EC79-3CBE-01A0-D549F66A2093}"/>
              </a:ext>
            </a:extLst>
          </p:cNvPr>
          <p:cNvCxnSpPr/>
          <p:nvPr/>
        </p:nvCxnSpPr>
        <p:spPr>
          <a:xfrm flipV="1">
            <a:off x="5024761" y="1899821"/>
            <a:ext cx="62144" cy="5328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F429B71-9240-38E3-971D-D39B99088AA8}"/>
              </a:ext>
            </a:extLst>
          </p:cNvPr>
          <p:cNvCxnSpPr>
            <a:cxnSpLocks/>
          </p:cNvCxnSpPr>
          <p:nvPr/>
        </p:nvCxnSpPr>
        <p:spPr>
          <a:xfrm flipV="1">
            <a:off x="10059879" y="1887984"/>
            <a:ext cx="1083953" cy="7164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CEDE65C-B87A-350A-FA05-C021AE83D2E8}"/>
              </a:ext>
            </a:extLst>
          </p:cNvPr>
          <p:cNvCxnSpPr>
            <a:cxnSpLocks/>
          </p:cNvCxnSpPr>
          <p:nvPr/>
        </p:nvCxnSpPr>
        <p:spPr>
          <a:xfrm flipV="1">
            <a:off x="11406161" y="1899821"/>
            <a:ext cx="31072" cy="21014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4C197E-3DFC-9014-55A0-90EE64F1D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375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45C9C-BBB3-238B-EAC7-B10E7F9E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Дашборд</a:t>
            </a:r>
            <a:r>
              <a:rPr lang="ru-RU" dirty="0"/>
              <a:t> с графиками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2789352-9E67-9318-57F3-191BAEEBD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980057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71AE7F-AD10-DE0C-1957-A11D6948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30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899EC-B017-561C-989B-08FA03D1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0362AE-ADCD-A671-B6E1-EA3F77AD6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627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/>
              <a:t>Алерт</a:t>
            </a:r>
            <a:r>
              <a:rPr lang="ru-RU" dirty="0"/>
              <a:t> — набор последовательных именованных запросов, которые вычисляются один раз в минуту. Полученное значение запроса сравнивается с заданными пороговыми значениями. Если порог достигнут, Monitoring переводит </a:t>
            </a:r>
            <a:r>
              <a:rPr lang="ru-RU" dirty="0" err="1"/>
              <a:t>алерт</a:t>
            </a:r>
            <a:r>
              <a:rPr lang="ru-RU" dirty="0"/>
              <a:t> в статус </a:t>
            </a:r>
            <a:r>
              <a:rPr lang="ru-RU" dirty="0" err="1"/>
              <a:t>Alarm</a:t>
            </a:r>
            <a:r>
              <a:rPr lang="ru-RU" dirty="0"/>
              <a:t> или </a:t>
            </a:r>
            <a:r>
              <a:rPr lang="ru-RU" dirty="0" err="1"/>
              <a:t>Warning</a:t>
            </a:r>
            <a:r>
              <a:rPr lang="ru-RU" dirty="0"/>
              <a:t> и оповещает пользователя по каналу уведомления.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003D7D-E3A5-7CC5-5F80-C1CA71CDA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489" y="2367528"/>
            <a:ext cx="6649378" cy="3267531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130E5F-63C9-2BC3-477D-440E108D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383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1A1CB8-134C-A572-1696-19BFF303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Каналы уведомлений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E8E3D1-2E6E-6E52-672C-4180C9CF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287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YS Text"/>
              </a:rPr>
              <a:t>Чтобы получать уведомления о переходе </a:t>
            </a:r>
            <a:r>
              <a:rPr lang="ru-RU" b="0" i="0" dirty="0" err="1">
                <a:effectLst/>
                <a:latin typeface="YS Text"/>
              </a:rPr>
              <a:t>алерта</a:t>
            </a:r>
            <a:r>
              <a:rPr lang="ru-RU" b="0" i="0" dirty="0">
                <a:effectLst/>
                <a:latin typeface="YS Text"/>
              </a:rPr>
              <a:t> в другой статус, необходимо указать канал уведомлений. Канал содержит информацию о получателях и методах отправки. </a:t>
            </a:r>
          </a:p>
          <a:p>
            <a:pPr marL="0" indent="0">
              <a:buNone/>
            </a:pPr>
            <a:r>
              <a:rPr lang="ru-RU" b="1" dirty="0">
                <a:latin typeface="YS Text"/>
              </a:rPr>
              <a:t>Для добавления канала уведомлений необходимо</a:t>
            </a:r>
            <a:r>
              <a:rPr lang="en-US" b="1" dirty="0">
                <a:latin typeface="YS Text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Перейти в раздел </a:t>
            </a:r>
            <a:r>
              <a:rPr lang="en-US" dirty="0"/>
              <a:t>“</a:t>
            </a:r>
            <a:r>
              <a:rPr lang="ru-RU" dirty="0"/>
              <a:t>Каналы уведомлений</a:t>
            </a:r>
            <a:r>
              <a:rPr lang="en-US" dirty="0"/>
              <a:t>”</a:t>
            </a:r>
            <a:endParaRPr lang="ru-RU" dirty="0"/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Нажать на кнопку </a:t>
            </a:r>
            <a:r>
              <a:rPr lang="en-US" dirty="0"/>
              <a:t>“</a:t>
            </a:r>
            <a:r>
              <a:rPr lang="ru-RU" dirty="0"/>
              <a:t>Создать</a:t>
            </a:r>
            <a:r>
              <a:rPr lang="en-US" dirty="0"/>
              <a:t>”</a:t>
            </a:r>
            <a:endParaRPr lang="ru-RU" dirty="0"/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Заполнить поля</a:t>
            </a:r>
            <a:r>
              <a:rPr lang="en-US" dirty="0"/>
              <a:t>:</a:t>
            </a:r>
          </a:p>
          <a:p>
            <a:pPr marL="1428750" lvl="2" indent="-514350">
              <a:buFont typeface="+mj-lt"/>
              <a:buAutoNum type="arabicPeriod"/>
            </a:pPr>
            <a:r>
              <a:rPr lang="ru-RU" dirty="0"/>
              <a:t>Имя канала</a:t>
            </a:r>
          </a:p>
          <a:p>
            <a:pPr marL="1428750" lvl="2" indent="-514350">
              <a:buFont typeface="+mj-lt"/>
              <a:buAutoNum type="arabicPeriod"/>
            </a:pPr>
            <a:r>
              <a:rPr lang="ru-RU" dirty="0"/>
              <a:t>Метод отправки уведомлений (</a:t>
            </a:r>
            <a:r>
              <a:rPr lang="en-US" dirty="0"/>
              <a:t>Email, SMS, Telegram, Push-</a:t>
            </a:r>
            <a:r>
              <a:rPr lang="ru-RU" dirty="0"/>
              <a:t>уведомления)</a:t>
            </a:r>
            <a:endParaRPr lang="en-US" dirty="0"/>
          </a:p>
          <a:p>
            <a:pPr marL="1428750" lvl="2" indent="-514350">
              <a:buFont typeface="+mj-lt"/>
              <a:buAutoNum type="arabicPeriod"/>
            </a:pPr>
            <a:r>
              <a:rPr lang="ru-RU" dirty="0"/>
              <a:t>Получатели уведомлений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BD2764-3419-CFE6-5EB0-7377140A4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73403"/>
            <a:ext cx="5905291" cy="3042941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A32ED7-5C79-D64A-2D11-C8F0FEEC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876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26193-3DFD-D0E4-BF0B-3A749ACA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настройки </a:t>
            </a:r>
            <a:r>
              <a:rPr lang="ru-RU" dirty="0" err="1"/>
              <a:t>алерта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93F32-971E-3475-B330-1D12BA440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Данный </a:t>
            </a:r>
            <a:r>
              <a:rPr lang="ru-RU" dirty="0" err="1"/>
              <a:t>алерт</a:t>
            </a:r>
            <a:r>
              <a:rPr lang="ru-RU" dirty="0"/>
              <a:t> отслеживает изменение значений у метрики </a:t>
            </a:r>
            <a:r>
              <a:rPr lang="en-US" dirty="0"/>
              <a:t>temperature : </a:t>
            </a:r>
            <a:r>
              <a:rPr lang="en-US" dirty="0" err="1"/>
              <a:t>openspace</a:t>
            </a:r>
            <a:r>
              <a:rPr lang="ru-RU" dirty="0"/>
              <a:t>. </a:t>
            </a:r>
            <a:endParaRPr lang="en-US" dirty="0"/>
          </a:p>
          <a:p>
            <a:pPr lvl="1"/>
            <a:r>
              <a:rPr lang="ru-RU" dirty="0"/>
              <a:t>Если значение данной метрики больше 30, то нам приходит уведомление со статусом </a:t>
            </a:r>
            <a:r>
              <a:rPr lang="en-US" dirty="0"/>
              <a:t>Warning</a:t>
            </a:r>
          </a:p>
          <a:p>
            <a:pPr lvl="1"/>
            <a:r>
              <a:rPr lang="ru-RU" dirty="0"/>
              <a:t>Если значение данной метрики больше </a:t>
            </a:r>
            <a:r>
              <a:rPr lang="en-US" dirty="0"/>
              <a:t>4</a:t>
            </a:r>
            <a:r>
              <a:rPr lang="ru-RU" dirty="0"/>
              <a:t>0, то нам приходит уведомление со статусом </a:t>
            </a:r>
            <a:r>
              <a:rPr lang="en-US" dirty="0"/>
              <a:t>Alarm</a:t>
            </a:r>
            <a:endParaRPr lang="ru-RU" dirty="0"/>
          </a:p>
          <a:p>
            <a:pPr lvl="1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39ACC2-FBD7-F533-8D94-19502F1F8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626" y="1418927"/>
            <a:ext cx="5135592" cy="523248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8A4219-5BF2-09A2-E394-2F71854E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718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13D05-EF51-15D8-CE3A-FA5EE7E6E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уведомления на почту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61D0315-9E74-9998-7ADB-6AABA1614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912" y="1825625"/>
            <a:ext cx="4454175" cy="4351338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807835C-5163-7585-1DF2-72E08A2C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3B2-3F70-4FCF-BDD7-955D5CD9823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659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4F06B-74F3-FC61-A787-37B6A2FE7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BB97BF1-2FE7-C75F-7809-569D3DB51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6109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675</Words>
  <Application>Microsoft Office PowerPoint</Application>
  <PresentationFormat>Широкоэкранный</PresentationFormat>
  <Paragraphs>102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Menlo</vt:lpstr>
      <vt:lpstr>YS Text</vt:lpstr>
      <vt:lpstr>Тема Office</vt:lpstr>
      <vt:lpstr>Yandex Cloud: Monitoring</vt:lpstr>
      <vt:lpstr>Yandex Monitoring</vt:lpstr>
      <vt:lpstr>Преимущества</vt:lpstr>
      <vt:lpstr>Недостатки</vt:lpstr>
      <vt:lpstr>Основные возможности</vt:lpstr>
      <vt:lpstr>Отправка метрик по API</vt:lpstr>
      <vt:lpstr>Параметры в теле запроса</vt:lpstr>
      <vt:lpstr>Пример записи метрик через API</vt:lpstr>
      <vt:lpstr>Пример просмотра метрик через API</vt:lpstr>
      <vt:lpstr>Функции метрик</vt:lpstr>
      <vt:lpstr>Дашборды</vt:lpstr>
      <vt:lpstr>Создание дашборда</vt:lpstr>
      <vt:lpstr>Дашборд с графиками</vt:lpstr>
      <vt:lpstr>Уведомления</vt:lpstr>
      <vt:lpstr>Каналы уведомлений</vt:lpstr>
      <vt:lpstr>Пример настройки алерта</vt:lpstr>
      <vt:lpstr>Пример уведомления на почту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пеленев денис</dc:creator>
  <cp:lastModifiedBy>пеленев денис</cp:lastModifiedBy>
  <cp:revision>6</cp:revision>
  <dcterms:created xsi:type="dcterms:W3CDTF">2025-11-19T03:41:23Z</dcterms:created>
  <dcterms:modified xsi:type="dcterms:W3CDTF">2025-11-19T10:03:55Z</dcterms:modified>
</cp:coreProperties>
</file>